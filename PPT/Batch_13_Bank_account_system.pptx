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434" autoAdjust="0"/>
    <p:restoredTop sz="94660"/>
  </p:normalViewPr>
  <p:slideViewPr>
    <p:cSldViewPr snapToGrid="0">
      <p:cViewPr varScale="1">
        <p:scale>
          <a:sx n="74" d="100"/>
          <a:sy n="74" d="100"/>
        </p:scale>
        <p:origin x="28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5732FB-24A9-4367-B0DD-B616FE9E183A}" type="datetimeFigureOut">
              <a:rPr lang="en-IN" smtClean="0"/>
              <a:t>26-09-2026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096221-69EF-4E62-B6F6-A8B39632F7A2}"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4096221-69EF-4E62-B6F6-A8B39632F7A2}" type="slidenum">
              <a:rPr lang="en-IN" smtClean="0"/>
              <a:t>12</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p:cNvSpPr>
            <a:spLocks noGrp="1"/>
          </p:cNvSpPr>
          <p:nvPr>
            <p:ph type="dt" sz="half" idx="10"/>
          </p:nvPr>
        </p:nvSpPr>
        <p:spPr/>
        <p:txBody>
          <a:bodyPr/>
          <a:lstStyle/>
          <a:p>
            <a:fld id="{3E89BA15-A74F-4DFF-A9D5-DB1E98095DB2}"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8E211-66E9-4600-974A-0DE9E71F25E7}"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IN"/>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p:cNvSpPr>
            <a:spLocks noGrp="1"/>
          </p:cNvSpPr>
          <p:nvPr>
            <p:ph type="dt" sz="half" idx="10"/>
          </p:nvPr>
        </p:nvSpPr>
        <p:spPr/>
        <p:txBody>
          <a:bodyPr/>
          <a:lstStyle/>
          <a:p>
            <a:fld id="{3E89BA15-A74F-4DFF-A9D5-DB1E98095DB2}"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8E211-66E9-4600-974A-0DE9E71F25E7}"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E89BA15-A74F-4DFF-A9D5-DB1E98095DB2}"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8E211-66E9-4600-974A-0DE9E71F25E7}"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p:cNvSpPr>
            <a:spLocks noGrp="1"/>
          </p:cNvSpPr>
          <p:nvPr>
            <p:ph type="dt" sz="half" idx="10"/>
          </p:nvPr>
        </p:nvSpPr>
        <p:spPr/>
        <p:txBody>
          <a:bodyPr/>
          <a:lstStyle/>
          <a:p>
            <a:fld id="{3E89BA15-A74F-4DFF-A9D5-DB1E98095DB2}" type="datetimeFigureOut">
              <a:rPr lang="en-IN" smtClean="0"/>
              <a:t>26-09-2026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38E211-66E9-4600-974A-0DE9E71F25E7}"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p:cNvSpPr>
            <a:spLocks noGrp="1"/>
          </p:cNvSpPr>
          <p:nvPr>
            <p:ph type="dt" sz="half" idx="10"/>
          </p:nvPr>
        </p:nvSpPr>
        <p:spPr/>
        <p:txBody>
          <a:bodyPr/>
          <a:lstStyle/>
          <a:p>
            <a:fld id="{3E89BA15-A74F-4DFF-A9D5-DB1E98095DB2}" type="datetimeFigureOut">
              <a:rPr lang="en-IN" smtClean="0"/>
              <a:t>26-09-2026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38E211-66E9-4600-974A-0DE9E71F25E7}"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IN"/>
          </a:p>
        </p:txBody>
      </p:sp>
      <p:sp>
        <p:nvSpPr>
          <p:cNvPr id="3" name="Date Placeholder 2"/>
          <p:cNvSpPr>
            <a:spLocks noGrp="1"/>
          </p:cNvSpPr>
          <p:nvPr>
            <p:ph type="dt" sz="half" idx="10"/>
          </p:nvPr>
        </p:nvSpPr>
        <p:spPr/>
        <p:txBody>
          <a:bodyPr/>
          <a:lstStyle/>
          <a:p>
            <a:fld id="{3E89BA15-A74F-4DFF-A9D5-DB1E98095DB2}" type="datetimeFigureOut">
              <a:rPr lang="en-IN" smtClean="0"/>
              <a:t>26-09-2026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38E211-66E9-4600-974A-0DE9E71F25E7}"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89BA15-A74F-4DFF-A9D5-DB1E98095DB2}" type="datetimeFigureOut">
              <a:rPr lang="en-IN" smtClean="0"/>
              <a:t>26-09-2026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238E211-66E9-4600-974A-0DE9E71F25E7}"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E89BA15-A74F-4DFF-A9D5-DB1E98095DB2}" type="datetimeFigureOut">
              <a:rPr lang="en-IN" smtClean="0"/>
              <a:t>26-09-2026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38E211-66E9-4600-974A-0DE9E71F25E7}"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E89BA15-A74F-4DFF-A9D5-DB1E98095DB2}" type="datetimeFigureOut">
              <a:rPr lang="en-IN" smtClean="0"/>
              <a:t>26-09-2026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38E211-66E9-4600-974A-0DE9E71F25E7}"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p:cNvSpPr>
            <a:spLocks noGrp="1"/>
          </p:cNvSpPr>
          <p:nvPr>
            <p:ph type="dt" sz="half" idx="10"/>
          </p:nvPr>
        </p:nvSpPr>
        <p:spPr/>
        <p:txBody>
          <a:bodyPr/>
          <a:lstStyle/>
          <a:p>
            <a:fld id="{3E89BA15-A74F-4DFF-A9D5-DB1E98095DB2}"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8E211-66E9-4600-974A-0DE9E71F25E7}"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p:cNvSpPr>
            <a:spLocks noGrp="1"/>
          </p:cNvSpPr>
          <p:nvPr>
            <p:ph type="dt" sz="half" idx="10"/>
          </p:nvPr>
        </p:nvSpPr>
        <p:spPr/>
        <p:txBody>
          <a:bodyPr/>
          <a:lstStyle/>
          <a:p>
            <a:fld id="{3E89BA15-A74F-4DFF-A9D5-DB1E98095DB2}"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8E211-66E9-4600-974A-0DE9E71F25E7}"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89BA15-A74F-4DFF-A9D5-DB1E98095DB2}" type="datetimeFigureOut">
              <a:rPr lang="en-IN" smtClean="0"/>
              <a:t>26-09-2026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38E211-66E9-4600-974A-0DE9E71F25E7}"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86449" y="174357"/>
            <a:ext cx="7819102" cy="1029648"/>
          </a:xfrm>
          <a:prstGeom prst="rect">
            <a:avLst/>
          </a:prstGeom>
        </p:spPr>
      </p:pic>
      <p:sp>
        <p:nvSpPr>
          <p:cNvPr id="5" name="Shape 0"/>
          <p:cNvSpPr/>
          <p:nvPr/>
        </p:nvSpPr>
        <p:spPr>
          <a:xfrm>
            <a:off x="3378064" y="1340188"/>
            <a:ext cx="5435872" cy="520175"/>
          </a:xfrm>
          <a:prstGeom prst="roundRect">
            <a:avLst>
              <a:gd name="adj" fmla="val 50000"/>
            </a:avLst>
          </a:prstGeom>
          <a:solidFill>
            <a:srgbClr val="D4E9F7"/>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200"/>
            <a:r>
              <a:rPr lang="en-US" sz="1600" b="1" dirty="0">
                <a:solidFill>
                  <a:srgbClr val="384653"/>
                </a:solidFill>
                <a:latin typeface="Times New Roman" panose="02020603050405020304" pitchFamily="18" charset="0"/>
                <a:ea typeface="Montserrat" pitchFamily="34" charset="-122"/>
                <a:cs typeface="Times New Roman" panose="02020603050405020304" pitchFamily="18" charset="0"/>
              </a:rPr>
              <a:t>  CORNERSTONE PROJECT REVIEW – 2 2026–2027</a:t>
            </a:r>
            <a:endParaRPr lang="en-IN" sz="1600" dirty="0">
              <a:solidFill>
                <a:prstClr val="black"/>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3990091" y="2126506"/>
            <a:ext cx="4211818" cy="369332"/>
          </a:xfrm>
          <a:prstGeom prst="rect">
            <a:avLst/>
          </a:prstGeom>
          <a:noFill/>
        </p:spPr>
        <p:txBody>
          <a:bodyPr wrap="square">
            <a:spAutoFit/>
          </a:bodyPr>
          <a:lstStyle/>
          <a:p>
            <a:r>
              <a:rPr lang="en-US" sz="1800" dirty="0">
                <a:latin typeface="Times New Roman" panose="02020603050405020304" pitchFamily="18" charset="0"/>
                <a:ea typeface="Artifakt Element Medium" panose="020B0603050000020004" pitchFamily="34" charset="0"/>
                <a:cs typeface="Times New Roman" panose="02020603050405020304" pitchFamily="18" charset="0"/>
              </a:rPr>
              <a:t>Object Oriented Programming through C++</a:t>
            </a:r>
            <a:endParaRPr lang="en-IN"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1845721" y="2710081"/>
            <a:ext cx="8314077" cy="899563"/>
          </a:xfrm>
          <a:prstGeom prst="rect">
            <a:avLst/>
          </a:prstGeom>
          <a:noFill/>
        </p:spPr>
        <p:txBody>
          <a:bodyPr wrap="square">
            <a:noAutofit/>
          </a:bodyPr>
          <a:lstStyle/>
          <a:p>
            <a:r>
              <a:rPr lang="en-US" sz="3200" b="1" dirty="0">
                <a:solidFill>
                  <a:srgbClr val="0F6FC6">
                    <a:lumMod val="75000"/>
                  </a:srgbClr>
                </a:solidFill>
                <a:latin typeface="Times New Roman" panose="02020603050405020304" pitchFamily="18" charset="0"/>
                <a:ea typeface="Barlow Bold" pitchFamily="34" charset="-122"/>
                <a:cs typeface="Times New Roman" panose="02020603050405020304" pitchFamily="18" charset="0"/>
              </a:rPr>
              <a:t>Bank Account Management System Using C++</a:t>
            </a:r>
          </a:p>
        </p:txBody>
      </p:sp>
      <p:sp>
        <p:nvSpPr>
          <p:cNvPr id="15" name="TextBox 14"/>
          <p:cNvSpPr txBox="1"/>
          <p:nvPr/>
        </p:nvSpPr>
        <p:spPr>
          <a:xfrm>
            <a:off x="2617373" y="3696457"/>
            <a:ext cx="2995151" cy="1863587"/>
          </a:xfrm>
          <a:prstGeom prst="rect">
            <a:avLst/>
          </a:prstGeom>
          <a:noFill/>
        </p:spPr>
        <p:txBody>
          <a:bodyPr wrap="square">
            <a:spAutoFit/>
          </a:bodyPr>
          <a:lstStyle/>
          <a:p>
            <a:pPr algn="ctr" defTabSz="1219200">
              <a:lnSpc>
                <a:spcPct val="150000"/>
              </a:lnSpc>
            </a:pPr>
            <a:r>
              <a:rPr lang="en-US" sz="1465" b="1" dirty="0">
                <a:solidFill>
                  <a:srgbClr val="FF0000"/>
                </a:solidFill>
                <a:latin typeface="Lato" panose="020F0502020204030203"/>
              </a:rPr>
              <a:t>Presented By:</a:t>
            </a:r>
            <a:r>
              <a:rPr lang="en-US" sz="1465" dirty="0">
                <a:solidFill>
                  <a:prstClr val="black"/>
                </a:solidFill>
                <a:latin typeface="Lato" panose="020F0502020204030203"/>
              </a:rPr>
              <a:t>                                              </a:t>
            </a:r>
            <a:r>
              <a:rPr lang="en-US" sz="1600" dirty="0">
                <a:solidFill>
                  <a:prstClr val="black"/>
                </a:solidFill>
                <a:latin typeface="Times New Roman" panose="02020603050405020304" pitchFamily="18" charset="0"/>
                <a:cs typeface="Times New Roman" panose="02020603050405020304" pitchFamily="18" charset="0"/>
              </a:rPr>
              <a:t>25B11AI349- G Srinivas 25B11AIA53 - P Sai Tharun 25B11AI136- B Venkatesh 25B11AI982-T Harika</a:t>
            </a:r>
            <a:endParaRPr lang="en-US" sz="1600" dirty="0">
              <a:solidFill>
                <a:prstClr val="black"/>
              </a:solidFill>
              <a:latin typeface="Times New Roman" panose="02020603050405020304" pitchFamily="18" charset="0"/>
              <a:ea typeface="Lato" panose="020F0502020204030203"/>
              <a:cs typeface="Times New Roman" panose="02020603050405020304" pitchFamily="18" charset="0"/>
            </a:endParaRPr>
          </a:p>
        </p:txBody>
      </p:sp>
      <p:sp>
        <p:nvSpPr>
          <p:cNvPr id="19" name="TextBox 18"/>
          <p:cNvSpPr txBox="1"/>
          <p:nvPr/>
        </p:nvSpPr>
        <p:spPr>
          <a:xfrm>
            <a:off x="7110970" y="3668798"/>
            <a:ext cx="2463657" cy="611706"/>
          </a:xfrm>
          <a:prstGeom prst="rect">
            <a:avLst/>
          </a:prstGeom>
          <a:noFill/>
        </p:spPr>
        <p:txBody>
          <a:bodyPr wrap="square">
            <a:spAutoFit/>
          </a:bodyPr>
          <a:lstStyle/>
          <a:p>
            <a:pPr defTabSz="1219200">
              <a:lnSpc>
                <a:spcPts val="2100"/>
              </a:lnSpc>
            </a:pPr>
            <a:r>
              <a:rPr lang="en-US" sz="1400" b="1" dirty="0">
                <a:solidFill>
                  <a:srgbClr val="FF0000"/>
                </a:solidFill>
                <a:latin typeface="Lato" panose="020F0502020204030203"/>
              </a:rPr>
              <a:t>Guided By:</a:t>
            </a:r>
          </a:p>
          <a:p>
            <a:pPr defTabSz="1219200">
              <a:lnSpc>
                <a:spcPts val="2100"/>
              </a:lnSpc>
            </a:pPr>
            <a:r>
              <a:rPr lang="en-US" sz="1600" dirty="0">
                <a:solidFill>
                  <a:prstClr val="black"/>
                </a:solidFill>
                <a:latin typeface="Times New Roman" panose="02020603050405020304" pitchFamily="18" charset="0"/>
                <a:ea typeface="Lato" panose="020F0502020204030203"/>
                <a:cs typeface="Times New Roman" panose="02020603050405020304" pitchFamily="18" charset="0"/>
              </a:rPr>
              <a:t>T Vijaya Lakshmi madam</a:t>
            </a:r>
            <a:endParaRPr lang="en-IN" sz="1600" dirty="0">
              <a:latin typeface="Times New Roman" panose="02020603050405020304" pitchFamily="18" charset="0"/>
              <a:cs typeface="Times New Roman" panose="02020603050405020304" pitchFamily="18" charset="0"/>
            </a:endParaRPr>
          </a:p>
        </p:txBody>
      </p:sp>
      <p:sp>
        <p:nvSpPr>
          <p:cNvPr id="21" name="TextBox 20"/>
          <p:cNvSpPr txBox="1"/>
          <p:nvPr/>
        </p:nvSpPr>
        <p:spPr>
          <a:xfrm>
            <a:off x="2792605" y="5829255"/>
            <a:ext cx="6606790" cy="400110"/>
          </a:xfrm>
          <a:prstGeom prst="rect">
            <a:avLst/>
          </a:prstGeom>
          <a:noFill/>
        </p:spPr>
        <p:txBody>
          <a:bodyPr wrap="square">
            <a:spAutoFit/>
          </a:bodyPr>
          <a:lstStyle/>
          <a:p>
            <a:r>
              <a:rPr lang="en-US" sz="2000" b="1" dirty="0">
                <a:solidFill>
                  <a:prstClr val="black">
                    <a:lumMod val="95000"/>
                    <a:lumOff val="5000"/>
                  </a:prstClr>
                </a:solidFill>
                <a:latin typeface="Times New Roman" panose="02020603050405020304" pitchFamily="18" charset="0"/>
                <a:ea typeface="Montserrat" pitchFamily="34" charset="-122"/>
                <a:cs typeface="Times New Roman" panose="02020603050405020304" pitchFamily="18" charset="0"/>
              </a:rPr>
              <a:t>Department</a:t>
            </a:r>
            <a:r>
              <a:rPr lang="en-US" sz="2000" b="1" dirty="0">
                <a:solidFill>
                  <a:srgbClr val="C00000"/>
                </a:solidFill>
                <a:latin typeface="Times New Roman" panose="02020603050405020304" pitchFamily="18" charset="0"/>
                <a:ea typeface="Montserrat" pitchFamily="34" charset="-122"/>
                <a:cs typeface="Times New Roman" panose="02020603050405020304" pitchFamily="18" charset="0"/>
              </a:rPr>
              <a:t> : </a:t>
            </a:r>
            <a:r>
              <a:rPr lang="en-US" sz="2000" b="1" dirty="0">
                <a:solidFill>
                  <a:srgbClr val="000ABF"/>
                </a:solidFill>
                <a:latin typeface="Times New Roman" panose="02020603050405020304" pitchFamily="18" charset="0"/>
                <a:ea typeface="Montserrat" pitchFamily="34" charset="-122"/>
                <a:cs typeface="Times New Roman" panose="02020603050405020304" pitchFamily="18" charset="0"/>
              </a:rPr>
              <a:t>Artificial Intelligence &amp; Machine Learning</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1328" y="377687"/>
            <a:ext cx="1971535" cy="600844"/>
          </a:xfrm>
          <a:prstGeom prst="rect">
            <a:avLst/>
          </a:prstGeom>
        </p:spPr>
      </p:pic>
      <p:sp>
        <p:nvSpPr>
          <p:cNvPr id="3" name="TextBox 2"/>
          <p:cNvSpPr txBox="1"/>
          <p:nvPr/>
        </p:nvSpPr>
        <p:spPr>
          <a:xfrm>
            <a:off x="4994787" y="270645"/>
            <a:ext cx="3409122" cy="707886"/>
          </a:xfrm>
          <a:prstGeom prst="rect">
            <a:avLst/>
          </a:prstGeom>
          <a:noFill/>
        </p:spPr>
        <p:txBody>
          <a:bodyPr wrap="square" rtlCol="0">
            <a:spAutoFit/>
          </a:bodyPr>
          <a:lstStyle/>
          <a:p>
            <a:r>
              <a:rPr lang="en-IN" sz="4000" dirty="0">
                <a:solidFill>
                  <a:schemeClr val="accent1"/>
                </a:solidFill>
                <a:latin typeface="Times New Roman" panose="02020603050405020304" pitchFamily="18" charset="0"/>
                <a:cs typeface="Times New Roman" panose="02020603050405020304" pitchFamily="18" charset="0"/>
              </a:rPr>
              <a:t>INDEX</a:t>
            </a:r>
          </a:p>
        </p:txBody>
      </p:sp>
      <p:sp>
        <p:nvSpPr>
          <p:cNvPr id="16" name="TextBox 15">
            <a:extLst>
              <a:ext uri="{FF2B5EF4-FFF2-40B4-BE49-F238E27FC236}">
                <a16:creationId xmlns:a16="http://schemas.microsoft.com/office/drawing/2014/main" id="{CE46076C-9F9C-7A59-7B5F-192188114DC4}"/>
              </a:ext>
            </a:extLst>
          </p:cNvPr>
          <p:cNvSpPr txBox="1"/>
          <p:nvPr/>
        </p:nvSpPr>
        <p:spPr>
          <a:xfrm>
            <a:off x="2969342" y="1149930"/>
            <a:ext cx="6096000" cy="556594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dirty="0">
                <a:latin typeface="Times New Roman" panose="02020603050405020304" charset="0"/>
                <a:cs typeface="Times New Roman" panose="02020603050405020304" charset="0"/>
              </a:rPr>
              <a:t>Abstract </a:t>
            </a:r>
          </a:p>
          <a:p>
            <a:pPr marL="342900" indent="-342900">
              <a:lnSpc>
                <a:spcPct val="150000"/>
              </a:lnSpc>
              <a:buFont typeface="Arial" panose="020B0604020202020204" pitchFamily="34" charset="0"/>
              <a:buChar char="•"/>
            </a:pPr>
            <a:r>
              <a:rPr lang="en-IN" sz="2400" dirty="0">
                <a:latin typeface="Times New Roman" panose="02020603050405020304" charset="0"/>
                <a:cs typeface="Times New Roman" panose="02020603050405020304" charset="0"/>
              </a:rPr>
              <a:t>Introduction </a:t>
            </a:r>
          </a:p>
          <a:p>
            <a:pPr marL="342900" indent="-342900">
              <a:lnSpc>
                <a:spcPct val="150000"/>
              </a:lnSpc>
              <a:buFont typeface="Arial" panose="020B0604020202020204" pitchFamily="34" charset="0"/>
              <a:buChar char="•"/>
            </a:pPr>
            <a:r>
              <a:rPr lang="en-IN" sz="2400" dirty="0">
                <a:latin typeface="Times New Roman" panose="02020603050405020304" charset="0"/>
                <a:cs typeface="Times New Roman" panose="02020603050405020304" charset="0"/>
              </a:rPr>
              <a:t>Problem Statement </a:t>
            </a:r>
          </a:p>
          <a:p>
            <a:pPr marL="342900" indent="-342900">
              <a:lnSpc>
                <a:spcPct val="150000"/>
              </a:lnSpc>
              <a:buFont typeface="Arial" panose="020B0604020202020204" pitchFamily="34" charset="0"/>
              <a:buChar char="•"/>
            </a:pPr>
            <a:r>
              <a:rPr lang="en-IN" sz="2400" dirty="0">
                <a:latin typeface="Times New Roman" panose="02020603050405020304" charset="0"/>
                <a:cs typeface="Times New Roman" panose="02020603050405020304" charset="0"/>
              </a:rPr>
              <a:t>Objectives of Project</a:t>
            </a:r>
          </a:p>
          <a:p>
            <a:pPr marL="342900" indent="-342900">
              <a:lnSpc>
                <a:spcPct val="150000"/>
              </a:lnSpc>
              <a:buFont typeface="Arial" panose="020B0604020202020204" pitchFamily="34" charset="0"/>
              <a:buChar char="•"/>
            </a:pPr>
            <a:r>
              <a:rPr lang="en-IN" sz="2400" dirty="0">
                <a:latin typeface="Times New Roman" panose="02020603050405020304" charset="0"/>
                <a:cs typeface="Times New Roman" panose="02020603050405020304" charset="0"/>
              </a:rPr>
              <a:t>Users of the system</a:t>
            </a:r>
          </a:p>
          <a:p>
            <a:pPr marL="342900" indent="-342900">
              <a:lnSpc>
                <a:spcPct val="150000"/>
              </a:lnSpc>
              <a:buFont typeface="Arial" panose="020B0604020202020204" pitchFamily="34" charset="0"/>
              <a:buChar char="•"/>
            </a:pPr>
            <a:r>
              <a:rPr lang="en-IN" sz="2400" dirty="0">
                <a:latin typeface="Times New Roman" panose="02020603050405020304" charset="0"/>
                <a:cs typeface="Times New Roman" panose="02020603050405020304" charset="0"/>
              </a:rPr>
              <a:t>Modules/Functionalities</a:t>
            </a:r>
          </a:p>
          <a:p>
            <a:pPr marL="342900" indent="-342900">
              <a:lnSpc>
                <a:spcPct val="150000"/>
              </a:lnSpc>
              <a:buFont typeface="Arial" panose="020B0604020202020204" pitchFamily="34" charset="0"/>
              <a:buChar char="•"/>
            </a:pPr>
            <a:r>
              <a:rPr lang="en-IN" sz="2400" dirty="0">
                <a:latin typeface="Times New Roman" panose="02020603050405020304" charset="0"/>
                <a:cs typeface="Times New Roman" panose="02020603050405020304" charset="0"/>
              </a:rPr>
              <a:t>Architecture Diagram</a:t>
            </a:r>
          </a:p>
          <a:p>
            <a:pPr marL="342900" indent="-342900">
              <a:lnSpc>
                <a:spcPct val="150000"/>
              </a:lnSpc>
              <a:buFont typeface="Arial" panose="020B0604020202020204" pitchFamily="34" charset="0"/>
              <a:buChar char="•"/>
            </a:pPr>
            <a:r>
              <a:rPr lang="en-IN" sz="2400" dirty="0">
                <a:latin typeface="Times New Roman" panose="02020603050405020304" charset="0"/>
                <a:cs typeface="Times New Roman" panose="02020603050405020304" charset="0"/>
              </a:rPr>
              <a:t>ER Diagram / DFD</a:t>
            </a:r>
          </a:p>
          <a:p>
            <a:pPr marL="342900" indent="-342900">
              <a:lnSpc>
                <a:spcPct val="150000"/>
              </a:lnSpc>
              <a:buFont typeface="Arial" panose="020B0604020202020204" pitchFamily="34" charset="0"/>
              <a:buChar char="•"/>
            </a:pPr>
            <a:r>
              <a:rPr lang="en-IN" sz="2400" dirty="0">
                <a:latin typeface="Times New Roman" panose="02020603050405020304" charset="0"/>
                <a:cs typeface="Times New Roman" panose="02020603050405020304" charset="0"/>
              </a:rPr>
              <a:t>Planning and Timeline Diagram</a:t>
            </a:r>
          </a:p>
          <a:p>
            <a:pPr marL="342900" indent="-342900">
              <a:lnSpc>
                <a:spcPct val="150000"/>
              </a:lnSpc>
              <a:buFont typeface="Arial" panose="020B0604020202020204" pitchFamily="34" charset="0"/>
              <a:buChar char="•"/>
            </a:pPr>
            <a:r>
              <a:rPr lang="en-IN" sz="2400" dirty="0">
                <a:latin typeface="Times New Roman" panose="02020603050405020304" charset="0"/>
                <a:cs typeface="Times New Roman" panose="02020603050405020304" charset="0"/>
              </a:rPr>
              <a:t>Role of each individual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1796" y="330758"/>
            <a:ext cx="2000250" cy="609600"/>
          </a:xfrm>
          <a:prstGeom prst="rect">
            <a:avLst/>
          </a:prstGeom>
        </p:spPr>
      </p:pic>
      <p:sp>
        <p:nvSpPr>
          <p:cNvPr id="6" name="TextBox 5"/>
          <p:cNvSpPr txBox="1"/>
          <p:nvPr/>
        </p:nvSpPr>
        <p:spPr>
          <a:xfrm>
            <a:off x="4653125" y="457338"/>
            <a:ext cx="2885748" cy="707886"/>
          </a:xfrm>
          <a:prstGeom prst="rect">
            <a:avLst/>
          </a:prstGeom>
          <a:noFill/>
        </p:spPr>
        <p:txBody>
          <a:bodyPr wrap="square" rtlCol="0">
            <a:spAutoFit/>
          </a:bodyPr>
          <a:lstStyle/>
          <a:p>
            <a:r>
              <a:rPr lang="en-IN" sz="4000" dirty="0">
                <a:solidFill>
                  <a:schemeClr val="accent1"/>
                </a:solidFill>
                <a:latin typeface="Times New Roman" panose="02020603050405020304" pitchFamily="18" charset="0"/>
                <a:cs typeface="Times New Roman" panose="02020603050405020304" pitchFamily="18" charset="0"/>
              </a:rPr>
              <a:t>ABSTRACT</a:t>
            </a:r>
          </a:p>
        </p:txBody>
      </p:sp>
      <p:sp>
        <p:nvSpPr>
          <p:cNvPr id="10" name="TextBox 9"/>
          <p:cNvSpPr txBox="1"/>
          <p:nvPr/>
        </p:nvSpPr>
        <p:spPr>
          <a:xfrm>
            <a:off x="1412313" y="1794674"/>
            <a:ext cx="9367371" cy="3268652"/>
          </a:xfrm>
          <a:prstGeom prst="rect">
            <a:avLst/>
          </a:prstGeom>
          <a:noFill/>
        </p:spPr>
        <p:txBody>
          <a:bodyPr wrap="square">
            <a:spAutoFit/>
          </a:bodyPr>
          <a:lstStyle/>
          <a:p>
            <a:pPr algn="just">
              <a:lnSpc>
                <a:spcPct val="150000"/>
              </a:lnSpc>
              <a:buNone/>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Bank Account Management System</a:t>
            </a:r>
            <a:r>
              <a:rPr lang="en-IN" sz="2000" dirty="0">
                <a:latin typeface="Times New Roman" panose="02020603050405020304" pitchFamily="18" charset="0"/>
                <a:cs typeface="Times New Roman" panose="02020603050405020304" pitchFamily="18" charset="0"/>
              </a:rPr>
              <a:t> is a C++-based application designed to simulate basic banking operations in a simple and organized environment. The system allows users to create and manage bank accounts and perform operations such as </a:t>
            </a:r>
            <a:r>
              <a:rPr lang="en-IN" sz="2000" b="1" dirty="0">
                <a:latin typeface="Times New Roman" panose="02020603050405020304" pitchFamily="18" charset="0"/>
                <a:cs typeface="Times New Roman" panose="02020603050405020304" pitchFamily="18" charset="0"/>
              </a:rPr>
              <a:t>depositing money, withdrawing money, checking account balance, and viewing account details. </a:t>
            </a:r>
            <a:r>
              <a:rPr lang="en-IN" sz="2000" dirty="0">
                <a:latin typeface="Times New Roman" panose="02020603050405020304" pitchFamily="18" charset="0"/>
                <a:cs typeface="Times New Roman" panose="02020603050405020304" pitchFamily="18" charset="0"/>
              </a:rPr>
              <a:t>The main purpose of the project is to provide a </a:t>
            </a:r>
            <a:r>
              <a:rPr lang="en-IN" sz="2000" b="1" dirty="0">
                <a:latin typeface="Times New Roman" panose="02020603050405020304" pitchFamily="18" charset="0"/>
                <a:cs typeface="Times New Roman" panose="02020603050405020304" pitchFamily="18" charset="0"/>
              </a:rPr>
              <a:t>simple and user-friendly environment for understanding banking operations, account management, transaction handling, and basic financial activities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232473" y="461387"/>
            <a:ext cx="2000250" cy="609600"/>
          </a:xfrm>
          <a:prstGeom prst="rect">
            <a:avLst/>
          </a:prstGeom>
        </p:spPr>
      </p:pic>
      <p:sp>
        <p:nvSpPr>
          <p:cNvPr id="8" name="TextBox 7"/>
          <p:cNvSpPr txBox="1"/>
          <p:nvPr/>
        </p:nvSpPr>
        <p:spPr>
          <a:xfrm>
            <a:off x="4143205" y="573308"/>
            <a:ext cx="4065373" cy="707886"/>
          </a:xfrm>
          <a:prstGeom prst="rect">
            <a:avLst/>
          </a:prstGeom>
          <a:noFill/>
        </p:spPr>
        <p:txBody>
          <a:bodyPr wrap="square" rtlCol="0">
            <a:spAutoFit/>
          </a:bodyPr>
          <a:lstStyle/>
          <a:p>
            <a:r>
              <a:rPr lang="en-IN" sz="4000" dirty="0">
                <a:solidFill>
                  <a:schemeClr val="accent1"/>
                </a:solidFill>
                <a:latin typeface="Times New Roman" panose="02020603050405020304" pitchFamily="18" charset="0"/>
                <a:cs typeface="Times New Roman" panose="02020603050405020304" pitchFamily="18" charset="0"/>
              </a:rPr>
              <a:t>INTRODUCTION</a:t>
            </a:r>
          </a:p>
        </p:txBody>
      </p:sp>
      <p:sp>
        <p:nvSpPr>
          <p:cNvPr id="3" name="TextBox 2"/>
          <p:cNvSpPr txBox="1"/>
          <p:nvPr/>
        </p:nvSpPr>
        <p:spPr>
          <a:xfrm>
            <a:off x="1232598" y="1447833"/>
            <a:ext cx="9529995" cy="4307398"/>
          </a:xfrm>
          <a:prstGeom prst="rect">
            <a:avLst/>
          </a:prstGeom>
          <a:noFill/>
        </p:spPr>
        <p:txBody>
          <a:bodyPr wrap="square">
            <a:spAutoFit/>
          </a:bodyPr>
          <a:lstStyle/>
          <a:p>
            <a:pPr algn="just">
              <a:lnSpc>
                <a:spcPct val="200000"/>
              </a:lnSpc>
              <a:buNone/>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Bank Account Management System</a:t>
            </a:r>
            <a:r>
              <a:rPr lang="en-IN" sz="2000" dirty="0">
                <a:latin typeface="Times New Roman" panose="02020603050405020304" pitchFamily="18" charset="0"/>
                <a:cs typeface="Times New Roman" panose="02020603050405020304" pitchFamily="18" charset="0"/>
              </a:rPr>
              <a:t> is a C++-based application developed to manage basic banking activities in a simple and organized way. It allows users to create bank accounts, store customer details, and perform common operations such as </a:t>
            </a:r>
            <a:r>
              <a:rPr lang="en-IN" sz="2000" b="1" dirty="0">
                <a:latin typeface="Times New Roman" panose="02020603050405020304" pitchFamily="18" charset="0"/>
                <a:cs typeface="Times New Roman" panose="02020603050405020304" pitchFamily="18" charset="0"/>
              </a:rPr>
              <a:t>deposit, withdrawal, balance enquiry, and viewing account details</a:t>
            </a:r>
            <a:r>
              <a:rPr lang="en-IN" sz="2000" dirty="0">
                <a:latin typeface="Times New Roman" panose="02020603050405020304" pitchFamily="18" charset="0"/>
                <a:cs typeface="Times New Roman" panose="02020603050405020304" pitchFamily="18" charset="0"/>
              </a:rPr>
              <a:t>. It provides a </a:t>
            </a:r>
            <a:r>
              <a:rPr lang="en-IN" sz="2000" b="1" dirty="0">
                <a:latin typeface="Times New Roman" panose="02020603050405020304" pitchFamily="18" charset="0"/>
                <a:cs typeface="Times New Roman" panose="02020603050405020304" pitchFamily="18" charset="0"/>
              </a:rPr>
              <a:t>simple and user-friendly approach</a:t>
            </a:r>
            <a:r>
              <a:rPr lang="en-IN" sz="2000" dirty="0">
                <a:latin typeface="Times New Roman" panose="02020603050405020304" pitchFamily="18" charset="0"/>
                <a:cs typeface="Times New Roman" panose="02020603050405020304" pitchFamily="18" charset="0"/>
              </a:rPr>
              <a:t> to handling banking operations and demonstrates the practical implementation of </a:t>
            </a:r>
            <a:r>
              <a:rPr lang="en-IN" sz="2000" b="1" dirty="0">
                <a:latin typeface="Times New Roman" panose="02020603050405020304" pitchFamily="18" charset="0"/>
                <a:cs typeface="Times New Roman" panose="02020603050405020304" pitchFamily="18" charset="0"/>
              </a:rPr>
              <a:t>Object-Oriented Programming concepts in C++</a:t>
            </a:r>
            <a:r>
              <a:rPr lang="en-IN" sz="2000" dirty="0">
                <a:latin typeface="Times New Roman" panose="02020603050405020304" pitchFamily="18" charset="0"/>
                <a:cs typeface="Times New Roman" panose="02020603050405020304" pitchFamily="18" charset="0"/>
              </a:rPr>
              <a:t>, such as classes, objects, data members, and member functions.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9793" y="347240"/>
            <a:ext cx="1794429" cy="546869"/>
          </a:xfrm>
          <a:prstGeom prst="rect">
            <a:avLst/>
          </a:prstGeom>
        </p:spPr>
      </p:pic>
      <p:sp>
        <p:nvSpPr>
          <p:cNvPr id="5" name="TextBox 4"/>
          <p:cNvSpPr txBox="1"/>
          <p:nvPr/>
        </p:nvSpPr>
        <p:spPr>
          <a:xfrm>
            <a:off x="3267587" y="620674"/>
            <a:ext cx="5656826" cy="707886"/>
          </a:xfrm>
          <a:prstGeom prst="rect">
            <a:avLst/>
          </a:prstGeom>
          <a:noFill/>
        </p:spPr>
        <p:txBody>
          <a:bodyPr wrap="square" rtlCol="0">
            <a:spAutoFit/>
          </a:bodyPr>
          <a:lstStyle/>
          <a:p>
            <a:r>
              <a:rPr lang="en-IN" sz="4000" dirty="0">
                <a:solidFill>
                  <a:schemeClr val="accent1"/>
                </a:solidFill>
                <a:latin typeface="Times New Roman" panose="02020603050405020304" pitchFamily="18" charset="0"/>
                <a:cs typeface="Times New Roman" panose="02020603050405020304" pitchFamily="18" charset="0"/>
              </a:rPr>
              <a:t>PROBLEM STATEMENT</a:t>
            </a:r>
          </a:p>
        </p:txBody>
      </p:sp>
      <p:sp>
        <p:nvSpPr>
          <p:cNvPr id="7" name="TextBox 6"/>
          <p:cNvSpPr txBox="1"/>
          <p:nvPr/>
        </p:nvSpPr>
        <p:spPr>
          <a:xfrm>
            <a:off x="1077007" y="1623489"/>
            <a:ext cx="4907705" cy="4457952"/>
          </a:xfrm>
          <a:prstGeom prst="rect">
            <a:avLst/>
          </a:prstGeom>
          <a:noFill/>
        </p:spPr>
        <p:txBody>
          <a:bodyPr wrap="square">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Manual management of bank accounts can be time-consuming and may cause errors in maintaining customer details and transactions. A simple and user-friendly system is needed to manage </a:t>
            </a:r>
            <a:r>
              <a:rPr lang="en-IN" sz="2400" b="1" dirty="0">
                <a:latin typeface="Times New Roman" panose="02020603050405020304" pitchFamily="18" charset="0"/>
                <a:cs typeface="Times New Roman" panose="02020603050405020304" pitchFamily="18" charset="0"/>
              </a:rPr>
              <a:t>account creation, deposits, withdrawals, balance enquiry, and account details</a:t>
            </a:r>
            <a:r>
              <a:rPr lang="en-IN" sz="2400" dirty="0">
                <a:latin typeface="Times New Roman" panose="02020603050405020304" pitchFamily="18" charset="0"/>
                <a:cs typeface="Times New Roman" panose="02020603050405020304" pitchFamily="18" charset="0"/>
              </a:rPr>
              <a:t> efficiently.</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3173" y="1917778"/>
            <a:ext cx="4907705" cy="3600153"/>
          </a:xfrm>
          <a:prstGeom prst="rect">
            <a:avLst/>
          </a:prstGeom>
          <a:ln>
            <a:noFill/>
          </a:ln>
          <a:effectLst>
            <a:outerShdw blurRad="76200" dir="18900000" sy="23000" kx="-1200000" algn="bl" rotWithShape="0">
              <a:prstClr val="black">
                <a:alpha val="20000"/>
              </a:prstClr>
            </a:outerShdw>
            <a:softEdge rad="3175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60815" y="451412"/>
            <a:ext cx="1794429" cy="546869"/>
          </a:xfrm>
          <a:prstGeom prst="rect">
            <a:avLst/>
          </a:prstGeom>
        </p:spPr>
      </p:pic>
      <p:sp>
        <p:nvSpPr>
          <p:cNvPr id="6" name="TextBox 5"/>
          <p:cNvSpPr txBox="1"/>
          <p:nvPr/>
        </p:nvSpPr>
        <p:spPr>
          <a:xfrm>
            <a:off x="3329052" y="503431"/>
            <a:ext cx="5533896" cy="717630"/>
          </a:xfrm>
          <a:prstGeom prst="rect">
            <a:avLst/>
          </a:prstGeom>
          <a:noFill/>
        </p:spPr>
        <p:txBody>
          <a:bodyPr wrap="square" rtlCol="0">
            <a:spAutoFit/>
          </a:bodyPr>
          <a:lstStyle/>
          <a:p>
            <a:r>
              <a:rPr lang="en-IN" sz="4000" dirty="0">
                <a:solidFill>
                  <a:schemeClr val="accent1"/>
                </a:solidFill>
                <a:latin typeface="Times New Roman" panose="02020603050405020304" pitchFamily="18" charset="0"/>
                <a:cs typeface="Times New Roman" panose="02020603050405020304" pitchFamily="18" charset="0"/>
              </a:rPr>
              <a:t>PROPOSED SOLUTION</a:t>
            </a:r>
          </a:p>
        </p:txBody>
      </p:sp>
      <p:sp>
        <p:nvSpPr>
          <p:cNvPr id="8" name="TextBox 7"/>
          <p:cNvSpPr txBox="1"/>
          <p:nvPr/>
        </p:nvSpPr>
        <p:spPr>
          <a:xfrm>
            <a:off x="1173184" y="1443841"/>
            <a:ext cx="9957271" cy="4051878"/>
          </a:xfrm>
          <a:prstGeom prst="rect">
            <a:avLst/>
          </a:prstGeom>
          <a:noFill/>
        </p:spPr>
        <p:txBody>
          <a:bodyPr wrap="square">
            <a:spAutoFit/>
          </a:bodyPr>
          <a:lstStyle/>
          <a:p>
            <a:pPr algn="just">
              <a:lnSpc>
                <a:spcPct val="200000"/>
              </a:lnSpc>
              <a:buNone/>
            </a:pPr>
            <a:r>
              <a:rPr lang="en-IN" sz="2200" dirty="0">
                <a:latin typeface="Times New Roman" panose="02020603050405020304" pitchFamily="18" charset="0"/>
                <a:cs typeface="Times New Roman" panose="02020603050405020304" pitchFamily="18" charset="0"/>
              </a:rPr>
              <a:t>Develop a </a:t>
            </a:r>
            <a:r>
              <a:rPr lang="en-IN" sz="2200" b="1" dirty="0">
                <a:latin typeface="Times New Roman" panose="02020603050405020304" pitchFamily="18" charset="0"/>
                <a:cs typeface="Times New Roman" panose="02020603050405020304" pitchFamily="18" charset="0"/>
              </a:rPr>
              <a:t>C++ Bank Account Management System</a:t>
            </a:r>
            <a:r>
              <a:rPr lang="en-IN" sz="2200" dirty="0">
                <a:latin typeface="Times New Roman" panose="02020603050405020304" pitchFamily="18" charset="0"/>
                <a:cs typeface="Times New Roman" panose="02020603050405020304" pitchFamily="18" charset="0"/>
              </a:rPr>
              <a:t> that provides account creation, customer details management, deposit, withdrawal, balance enquiry, and account information management. The system will maintain account records and transaction details for each customer Thus, the system helps users understand </a:t>
            </a:r>
            <a:r>
              <a:rPr lang="en-IN" sz="2200" b="1" dirty="0">
                <a:latin typeface="Times New Roman" panose="02020603050405020304" pitchFamily="18" charset="0"/>
                <a:cs typeface="Times New Roman" panose="02020603050405020304" pitchFamily="18" charset="0"/>
              </a:rPr>
              <a:t>banking operations, account management, transaction handling, and basic financial activities</a:t>
            </a:r>
            <a:r>
              <a:rPr lang="en-IN" sz="2200" dirty="0">
                <a:latin typeface="Times New Roman" panose="02020603050405020304" pitchFamily="18" charset="0"/>
                <a:cs typeface="Times New Roman" panose="02020603050405020304" pitchFamily="18" charset="0"/>
              </a:rPr>
              <a:t> in a simple, organized, and practical way.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97885" y="451413"/>
            <a:ext cx="1766889" cy="538476"/>
          </a:xfrm>
          <a:prstGeom prst="rect">
            <a:avLst/>
          </a:prstGeom>
        </p:spPr>
      </p:pic>
      <p:sp>
        <p:nvSpPr>
          <p:cNvPr id="6" name="TextBox 5"/>
          <p:cNvSpPr txBox="1"/>
          <p:nvPr/>
        </p:nvSpPr>
        <p:spPr>
          <a:xfrm>
            <a:off x="2887733" y="343558"/>
            <a:ext cx="7934616" cy="646331"/>
          </a:xfrm>
          <a:prstGeom prst="rect">
            <a:avLst/>
          </a:prstGeom>
          <a:noFill/>
        </p:spPr>
        <p:txBody>
          <a:bodyPr wrap="square" rtlCol="0">
            <a:spAutoFit/>
          </a:bodyPr>
          <a:lstStyle/>
          <a:p>
            <a:r>
              <a:rPr lang="en-IN" sz="3600" dirty="0">
                <a:solidFill>
                  <a:schemeClr val="accent1"/>
                </a:solidFill>
                <a:latin typeface="Times New Roman" panose="02020603050405020304" pitchFamily="18" charset="0"/>
                <a:cs typeface="Times New Roman" panose="02020603050405020304" pitchFamily="18" charset="0"/>
              </a:rPr>
              <a:t>OBJECTIVES OF  PROJECT</a:t>
            </a: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094" y="1151408"/>
            <a:ext cx="9281255" cy="57065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65927" y="345989"/>
            <a:ext cx="2007014" cy="615909"/>
          </a:xfrm>
          <a:prstGeom prst="rect">
            <a:avLst/>
          </a:prstGeom>
        </p:spPr>
      </p:pic>
      <p:sp>
        <p:nvSpPr>
          <p:cNvPr id="2" name="TextBox 1"/>
          <p:cNvSpPr txBox="1"/>
          <p:nvPr/>
        </p:nvSpPr>
        <p:spPr>
          <a:xfrm>
            <a:off x="3962401" y="407900"/>
            <a:ext cx="6646606" cy="553998"/>
          </a:xfrm>
          <a:prstGeom prst="rect">
            <a:avLst/>
          </a:prstGeom>
          <a:noFill/>
        </p:spPr>
        <p:txBody>
          <a:bodyPr wrap="square" rtlCol="0">
            <a:spAutoFit/>
          </a:bodyPr>
          <a:lstStyle/>
          <a:p>
            <a:r>
              <a:rPr lang="en-IN" sz="3000" dirty="0">
                <a:solidFill>
                  <a:schemeClr val="accent1"/>
                </a:solidFill>
                <a:latin typeface="Times New Roman" panose="02020603050405020304" pitchFamily="18" charset="0"/>
                <a:cs typeface="Times New Roman" panose="02020603050405020304" pitchFamily="18" charset="0"/>
              </a:rPr>
              <a:t>USERS OF THE SYSTEM</a:t>
            </a:r>
          </a:p>
        </p:txBody>
      </p:sp>
      <p:pic>
        <p:nvPicPr>
          <p:cNvPr id="4" name="Picture 3">
            <a:extLst>
              <a:ext uri="{FF2B5EF4-FFF2-40B4-BE49-F238E27FC236}">
                <a16:creationId xmlns:a16="http://schemas.microsoft.com/office/drawing/2014/main" id="{C4483B06-00F7-A3B0-E0CE-869C10E679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119" y="1290943"/>
            <a:ext cx="11191761" cy="52210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401901" y="385319"/>
            <a:ext cx="1724078" cy="529082"/>
          </a:xfrm>
          <a:prstGeom prst="rect">
            <a:avLst/>
          </a:prstGeom>
        </p:spPr>
      </p:pic>
      <p:sp>
        <p:nvSpPr>
          <p:cNvPr id="8" name="TextBox 7">
            <a:extLst>
              <a:ext uri="{FF2B5EF4-FFF2-40B4-BE49-F238E27FC236}">
                <a16:creationId xmlns:a16="http://schemas.microsoft.com/office/drawing/2014/main" id="{29D1EDC7-7BED-D84A-F8AA-4CE6610B5886}"/>
              </a:ext>
            </a:extLst>
          </p:cNvPr>
          <p:cNvSpPr txBox="1"/>
          <p:nvPr/>
        </p:nvSpPr>
        <p:spPr>
          <a:xfrm>
            <a:off x="3696928" y="360403"/>
            <a:ext cx="6096000" cy="553998"/>
          </a:xfrm>
          <a:prstGeom prst="rect">
            <a:avLst/>
          </a:prstGeom>
          <a:noFill/>
        </p:spPr>
        <p:txBody>
          <a:bodyPr wrap="square">
            <a:spAutoFit/>
          </a:bodyPr>
          <a:lstStyle/>
          <a:p>
            <a:r>
              <a:rPr lang="en-IN" sz="3000" dirty="0">
                <a:solidFill>
                  <a:schemeClr val="accent1"/>
                </a:solidFill>
                <a:latin typeface="Times New Roman" panose="02020603050405020304" pitchFamily="18" charset="0"/>
                <a:cs typeface="Times New Roman" panose="02020603050405020304" pitchFamily="18" charset="0"/>
              </a:rPr>
              <a:t>MODULES/FUNCTIONALITIES</a:t>
            </a:r>
            <a:endParaRPr lang="en-IN" dirty="0"/>
          </a:p>
        </p:txBody>
      </p:sp>
      <p:pic>
        <p:nvPicPr>
          <p:cNvPr id="20" name="Picture 19">
            <a:extLst>
              <a:ext uri="{FF2B5EF4-FFF2-40B4-BE49-F238E27FC236}">
                <a16:creationId xmlns:a16="http://schemas.microsoft.com/office/drawing/2014/main" id="{30145651-C982-25CC-DEE2-806F62BB60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2316" y="1162101"/>
            <a:ext cx="6624972" cy="5453483"/>
          </a:xfrm>
          <a:prstGeom prst="rect">
            <a:avLst/>
          </a:prstGeom>
        </p:spPr>
      </p:pic>
      <p:sp>
        <p:nvSpPr>
          <p:cNvPr id="22" name="TextBox 21">
            <a:extLst>
              <a:ext uri="{FF2B5EF4-FFF2-40B4-BE49-F238E27FC236}">
                <a16:creationId xmlns:a16="http://schemas.microsoft.com/office/drawing/2014/main" id="{08D0AFF7-1864-6202-F766-8EB076B9D8EE}"/>
              </a:ext>
            </a:extLst>
          </p:cNvPr>
          <p:cNvSpPr txBox="1"/>
          <p:nvPr/>
        </p:nvSpPr>
        <p:spPr>
          <a:xfrm>
            <a:off x="580103" y="1173062"/>
            <a:ext cx="4365523" cy="5324535"/>
          </a:xfrm>
          <a:prstGeom prst="rect">
            <a:avLst/>
          </a:prstGeom>
          <a:noFill/>
        </p:spPr>
        <p:txBody>
          <a:bodyPr wrap="square">
            <a:spAutoFit/>
          </a:bodyPr>
          <a:lstStyle/>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Login Module</a:t>
            </a:r>
            <a:r>
              <a:rPr lang="en-IN" sz="1700" dirty="0">
                <a:latin typeface="Times New Roman" panose="02020603050405020304" pitchFamily="18" charset="0"/>
                <a:cs typeface="Times New Roman" panose="02020603050405020304" pitchFamily="18" charset="0"/>
              </a:rPr>
              <a:t> – Provides secure access to authorized users.</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Account Creation </a:t>
            </a:r>
            <a:r>
              <a:rPr lang="en-IN" sz="1700" dirty="0">
                <a:latin typeface="Times New Roman" panose="02020603050405020304" pitchFamily="18" charset="0"/>
                <a:cs typeface="Times New Roman" panose="02020603050405020304" pitchFamily="18" charset="0"/>
              </a:rPr>
              <a:t>– Creates new customer bank accounts.</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Account Details </a:t>
            </a:r>
            <a:r>
              <a:rPr lang="en-IN" sz="1700" dirty="0">
                <a:latin typeface="Times New Roman" panose="02020603050405020304" pitchFamily="18" charset="0"/>
                <a:cs typeface="Times New Roman" panose="02020603050405020304" pitchFamily="18" charset="0"/>
              </a:rPr>
              <a:t>– Stores and displays customer and account information.</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Deposit</a:t>
            </a:r>
            <a:r>
              <a:rPr lang="en-IN" sz="1700" dirty="0">
                <a:latin typeface="Times New Roman" panose="02020603050405020304" pitchFamily="18" charset="0"/>
                <a:cs typeface="Times New Roman" panose="02020603050405020304" pitchFamily="18" charset="0"/>
              </a:rPr>
              <a:t> – Adds money to the customer’s account.</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Withdrawal</a:t>
            </a:r>
            <a:r>
              <a:rPr lang="en-IN" sz="1700" dirty="0">
                <a:latin typeface="Times New Roman" panose="02020603050405020304" pitchFamily="18" charset="0"/>
                <a:cs typeface="Times New Roman" panose="02020603050405020304" pitchFamily="18" charset="0"/>
              </a:rPr>
              <a:t> – Allows users to withdraw available money.</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Balance Enquiry </a:t>
            </a:r>
            <a:r>
              <a:rPr lang="en-IN" sz="1700" dirty="0">
                <a:latin typeface="Times New Roman" panose="02020603050405020304" pitchFamily="18" charset="0"/>
                <a:cs typeface="Times New Roman" panose="02020603050405020304" pitchFamily="18" charset="0"/>
              </a:rPr>
              <a:t>– Shows the current account balance.</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Search Account </a:t>
            </a:r>
            <a:r>
              <a:rPr lang="en-IN" sz="1700" dirty="0">
                <a:latin typeface="Times New Roman" panose="02020603050405020304" pitchFamily="18" charset="0"/>
                <a:cs typeface="Times New Roman" panose="02020603050405020304" pitchFamily="18" charset="0"/>
              </a:rPr>
              <a:t>– Finds accounts using account number or customer name.</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Update Account </a:t>
            </a:r>
            <a:r>
              <a:rPr lang="en-IN" sz="1700" dirty="0">
                <a:latin typeface="Times New Roman" panose="02020603050405020304" pitchFamily="18" charset="0"/>
                <a:cs typeface="Times New Roman" panose="02020603050405020304" pitchFamily="18" charset="0"/>
              </a:rPr>
              <a:t>– Modifies customer or account details.</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Transaction Module </a:t>
            </a:r>
            <a:r>
              <a:rPr lang="en-IN" sz="1700" dirty="0">
                <a:latin typeface="Times New Roman" panose="02020603050405020304" pitchFamily="18" charset="0"/>
                <a:cs typeface="Times New Roman" panose="02020603050405020304" pitchFamily="18" charset="0"/>
              </a:rPr>
              <a:t>– Records deposits and withdrawals.</a:t>
            </a:r>
          </a:p>
          <a:p>
            <a:pPr marL="285750" indent="-285750">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File Storage </a:t>
            </a:r>
            <a:r>
              <a:rPr lang="en-IN" sz="1700" dirty="0">
                <a:latin typeface="Times New Roman" panose="02020603050405020304" pitchFamily="18" charset="0"/>
                <a:cs typeface="Times New Roman" panose="02020603050405020304" pitchFamily="18" charset="0"/>
              </a:rPr>
              <a:t>– Saves account and transaction records in files.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91836" y="335892"/>
            <a:ext cx="1724078" cy="529082"/>
          </a:xfrm>
          <a:prstGeom prst="rect">
            <a:avLst/>
          </a:prstGeom>
        </p:spPr>
      </p:pic>
      <p:sp>
        <p:nvSpPr>
          <p:cNvPr id="4" name="TextBox 3">
            <a:extLst>
              <a:ext uri="{FF2B5EF4-FFF2-40B4-BE49-F238E27FC236}">
                <a16:creationId xmlns:a16="http://schemas.microsoft.com/office/drawing/2014/main" id="{ED2EABFF-DBDC-AEB7-0CD6-4F819385ECE4}"/>
              </a:ext>
            </a:extLst>
          </p:cNvPr>
          <p:cNvSpPr txBox="1"/>
          <p:nvPr/>
        </p:nvSpPr>
        <p:spPr>
          <a:xfrm>
            <a:off x="3716594" y="310976"/>
            <a:ext cx="6096000" cy="553998"/>
          </a:xfrm>
          <a:prstGeom prst="rect">
            <a:avLst/>
          </a:prstGeom>
          <a:noFill/>
        </p:spPr>
        <p:txBody>
          <a:bodyPr wrap="square">
            <a:spAutoFit/>
          </a:bodyPr>
          <a:lstStyle/>
          <a:p>
            <a:r>
              <a:rPr lang="en-IN" sz="3000" dirty="0">
                <a:solidFill>
                  <a:schemeClr val="accent1"/>
                </a:solidFill>
                <a:latin typeface="Times New Roman" panose="02020603050405020304" pitchFamily="18" charset="0"/>
                <a:cs typeface="Times New Roman" panose="02020603050405020304" pitchFamily="18" charset="0"/>
              </a:rPr>
              <a:t>ARCHITECTURE DIAGRAM</a:t>
            </a:r>
            <a:endParaRPr lang="en-IN" dirty="0"/>
          </a:p>
        </p:txBody>
      </p:sp>
      <p:pic>
        <p:nvPicPr>
          <p:cNvPr id="13" name="Picture 12">
            <a:extLst>
              <a:ext uri="{FF2B5EF4-FFF2-40B4-BE49-F238E27FC236}">
                <a16:creationId xmlns:a16="http://schemas.microsoft.com/office/drawing/2014/main" id="{890265A2-E19C-E3AF-9F6F-8B4794360C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746" y="965563"/>
            <a:ext cx="10972800" cy="558146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53620" y="422390"/>
            <a:ext cx="1724078" cy="529082"/>
          </a:xfrm>
          <a:prstGeom prst="rect">
            <a:avLst/>
          </a:prstGeom>
        </p:spPr>
      </p:pic>
      <p:sp>
        <p:nvSpPr>
          <p:cNvPr id="3" name="TextBox 2">
            <a:extLst>
              <a:ext uri="{FF2B5EF4-FFF2-40B4-BE49-F238E27FC236}">
                <a16:creationId xmlns:a16="http://schemas.microsoft.com/office/drawing/2014/main" id="{C7BBA527-46AE-C2C5-D5EF-CED8A67260A6}"/>
              </a:ext>
            </a:extLst>
          </p:cNvPr>
          <p:cNvSpPr txBox="1"/>
          <p:nvPr/>
        </p:nvSpPr>
        <p:spPr>
          <a:xfrm>
            <a:off x="3982066" y="397474"/>
            <a:ext cx="6096000" cy="553998"/>
          </a:xfrm>
          <a:prstGeom prst="rect">
            <a:avLst/>
          </a:prstGeom>
          <a:noFill/>
        </p:spPr>
        <p:txBody>
          <a:bodyPr wrap="square">
            <a:spAutoFit/>
          </a:bodyPr>
          <a:lstStyle/>
          <a:p>
            <a:r>
              <a:rPr lang="en-IN" sz="3000" dirty="0">
                <a:solidFill>
                  <a:schemeClr val="accent1"/>
                </a:solidFill>
                <a:latin typeface="Times New Roman" panose="02020603050405020304" pitchFamily="18" charset="0"/>
                <a:cs typeface="Times New Roman" panose="02020603050405020304" pitchFamily="18" charset="0"/>
              </a:rPr>
              <a:t>ER DIAGRAM / DFD</a:t>
            </a:r>
            <a:endParaRPr lang="en-IN" dirty="0"/>
          </a:p>
        </p:txBody>
      </p:sp>
      <p:pic>
        <p:nvPicPr>
          <p:cNvPr id="9" name="Picture 8">
            <a:extLst>
              <a:ext uri="{FF2B5EF4-FFF2-40B4-BE49-F238E27FC236}">
                <a16:creationId xmlns:a16="http://schemas.microsoft.com/office/drawing/2014/main" id="{55EC94A7-7108-5A94-0B48-A3AC8FDF5FAE}"/>
              </a:ext>
            </a:extLst>
          </p:cNvPr>
          <p:cNvPicPr>
            <a:picLocks noChangeAspect="1"/>
          </p:cNvPicPr>
          <p:nvPr/>
        </p:nvPicPr>
        <p:blipFill>
          <a:blip r:embed="rId3">
            <a:extLst>
              <a:ext uri="{28A0092B-C50C-407E-A947-70E740481C1C}">
                <a14:useLocalDpi xmlns:a14="http://schemas.microsoft.com/office/drawing/2010/main" val="0"/>
              </a:ext>
            </a:extLst>
          </a:blip>
          <a:srcRect l="855"/>
          <a:stretch>
            <a:fillRect/>
          </a:stretch>
        </p:blipFill>
        <p:spPr>
          <a:xfrm>
            <a:off x="924791" y="1071716"/>
            <a:ext cx="10432304" cy="5504376"/>
          </a:xfrm>
          <a:prstGeom prst="rect">
            <a:avLst/>
          </a:prstGeom>
        </p:spPr>
      </p:pic>
      <p:sp>
        <p:nvSpPr>
          <p:cNvPr id="2" name="Rectangle 1">
            <a:extLst>
              <a:ext uri="{FF2B5EF4-FFF2-40B4-BE49-F238E27FC236}">
                <a16:creationId xmlns:a16="http://schemas.microsoft.com/office/drawing/2014/main" id="{F9AFA4B7-1FB0-5C06-DE91-A4111BAF76FF}"/>
              </a:ext>
            </a:extLst>
          </p:cNvPr>
          <p:cNvSpPr/>
          <p:nvPr/>
        </p:nvSpPr>
        <p:spPr>
          <a:xfrm>
            <a:off x="3054928" y="951472"/>
            <a:ext cx="6390409" cy="378565"/>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DE744C89-B1A2-B688-B385-980A239ECB51}"/>
              </a:ext>
            </a:extLst>
          </p:cNvPr>
          <p:cNvSpPr/>
          <p:nvPr/>
        </p:nvSpPr>
        <p:spPr>
          <a:xfrm>
            <a:off x="2826327" y="951472"/>
            <a:ext cx="353291" cy="264264"/>
          </a:xfrm>
          <a:prstGeom prst="ellipse">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1901" y="434746"/>
            <a:ext cx="1724078" cy="529082"/>
          </a:xfrm>
          <a:prstGeom prst="rect">
            <a:avLst/>
          </a:prstGeom>
        </p:spPr>
      </p:pic>
      <p:sp>
        <p:nvSpPr>
          <p:cNvPr id="14" name="TextBox 13">
            <a:extLst>
              <a:ext uri="{FF2B5EF4-FFF2-40B4-BE49-F238E27FC236}">
                <a16:creationId xmlns:a16="http://schemas.microsoft.com/office/drawing/2014/main" id="{FA7EE799-728A-D8BE-BE5C-42EF30B7F31B}"/>
              </a:ext>
            </a:extLst>
          </p:cNvPr>
          <p:cNvSpPr txBox="1"/>
          <p:nvPr/>
        </p:nvSpPr>
        <p:spPr>
          <a:xfrm>
            <a:off x="2880851" y="422288"/>
            <a:ext cx="7226710" cy="553998"/>
          </a:xfrm>
          <a:prstGeom prst="rect">
            <a:avLst/>
          </a:prstGeom>
          <a:noFill/>
        </p:spPr>
        <p:txBody>
          <a:bodyPr wrap="square">
            <a:spAutoFit/>
          </a:bodyPr>
          <a:lstStyle/>
          <a:p>
            <a:r>
              <a:rPr lang="en-IN" sz="3000" dirty="0">
                <a:solidFill>
                  <a:schemeClr val="accent1"/>
                </a:solidFill>
                <a:latin typeface="Times New Roman" panose="02020603050405020304" pitchFamily="18" charset="0"/>
                <a:cs typeface="Times New Roman" panose="02020603050405020304" pitchFamily="18" charset="0"/>
              </a:rPr>
              <a:t>PLANNING AND TIMELINE DIAGRAM</a:t>
            </a:r>
            <a:endParaRPr lang="en-IN" dirty="0"/>
          </a:p>
        </p:txBody>
      </p:sp>
      <p:pic>
        <p:nvPicPr>
          <p:cNvPr id="3" name="Picture 2">
            <a:extLst>
              <a:ext uri="{FF2B5EF4-FFF2-40B4-BE49-F238E27FC236}">
                <a16:creationId xmlns:a16="http://schemas.microsoft.com/office/drawing/2014/main" id="{76410F93-1484-4EFD-FC61-FF89F43751DA}"/>
              </a:ext>
            </a:extLst>
          </p:cNvPr>
          <p:cNvPicPr>
            <a:picLocks noChangeAspect="1"/>
          </p:cNvPicPr>
          <p:nvPr/>
        </p:nvPicPr>
        <p:blipFill>
          <a:blip r:embed="rId4">
            <a:extLst>
              <a:ext uri="{28A0092B-C50C-407E-A947-70E740481C1C}">
                <a14:useLocalDpi xmlns:a14="http://schemas.microsoft.com/office/drawing/2010/main" val="0"/>
              </a:ext>
            </a:extLst>
          </a:blip>
          <a:srcRect l="449" t="114" r="679" b="2068"/>
          <a:stretch>
            <a:fillRect/>
          </a:stretch>
        </p:blipFill>
        <p:spPr>
          <a:xfrm>
            <a:off x="831273" y="1236519"/>
            <a:ext cx="10505210" cy="50915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451328" y="521243"/>
            <a:ext cx="1724078" cy="529082"/>
          </a:xfrm>
          <a:prstGeom prst="rect">
            <a:avLst/>
          </a:prstGeom>
        </p:spPr>
      </p:pic>
      <p:sp>
        <p:nvSpPr>
          <p:cNvPr id="4" name="TextBox 3">
            <a:extLst>
              <a:ext uri="{FF2B5EF4-FFF2-40B4-BE49-F238E27FC236}">
                <a16:creationId xmlns:a16="http://schemas.microsoft.com/office/drawing/2014/main" id="{99B04F8B-87BA-3C7B-C1DF-7BC3ECDDD737}"/>
              </a:ext>
            </a:extLst>
          </p:cNvPr>
          <p:cNvSpPr txBox="1"/>
          <p:nvPr/>
        </p:nvSpPr>
        <p:spPr>
          <a:xfrm>
            <a:off x="3667433" y="496327"/>
            <a:ext cx="6096000" cy="553998"/>
          </a:xfrm>
          <a:prstGeom prst="rect">
            <a:avLst/>
          </a:prstGeom>
          <a:noFill/>
        </p:spPr>
        <p:txBody>
          <a:bodyPr wrap="square">
            <a:spAutoFit/>
          </a:bodyPr>
          <a:lstStyle/>
          <a:p>
            <a:r>
              <a:rPr lang="en-IN" sz="3000" dirty="0">
                <a:solidFill>
                  <a:schemeClr val="accent1"/>
                </a:solidFill>
                <a:latin typeface="Times New Roman" panose="02020603050405020304" pitchFamily="18" charset="0"/>
                <a:cs typeface="Times New Roman" panose="02020603050405020304" pitchFamily="18" charset="0"/>
              </a:rPr>
              <a:t>ROLE OF EACH  INDIVIDUAL</a:t>
            </a:r>
            <a:endParaRPr lang="en-IN" dirty="0"/>
          </a:p>
        </p:txBody>
      </p:sp>
      <p:sp>
        <p:nvSpPr>
          <p:cNvPr id="2" name="TextBox 1">
            <a:extLst>
              <a:ext uri="{FF2B5EF4-FFF2-40B4-BE49-F238E27FC236}">
                <a16:creationId xmlns:a16="http://schemas.microsoft.com/office/drawing/2014/main" id="{B82E1028-9BF0-66E0-0832-B052106D6B74}"/>
              </a:ext>
            </a:extLst>
          </p:cNvPr>
          <p:cNvSpPr txBox="1"/>
          <p:nvPr/>
        </p:nvSpPr>
        <p:spPr>
          <a:xfrm>
            <a:off x="1297070" y="1466598"/>
            <a:ext cx="4745658" cy="452431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solidFill>
                  <a:prstClr val="black"/>
                </a:solidFill>
                <a:latin typeface="Times New Roman" panose="02020603050405020304" pitchFamily="18" charset="0"/>
                <a:ea typeface="MS Gothic" panose="020B0609070205080204" pitchFamily="49" charset="-128"/>
                <a:cs typeface="Times New Roman" panose="02020603050405020304" pitchFamily="18" charset="0"/>
              </a:rPr>
              <a:t> </a:t>
            </a:r>
            <a:r>
              <a:rPr lang="en-US" sz="1600" dirty="0">
                <a:solidFill>
                  <a:prstClr val="black"/>
                </a:solidFill>
                <a:latin typeface="Lato" panose="020F0502020204030203"/>
              </a:rPr>
              <a:t> </a:t>
            </a:r>
            <a:r>
              <a:rPr lang="en-US" sz="1600" b="1" dirty="0">
                <a:solidFill>
                  <a:prstClr val="black"/>
                </a:solidFill>
                <a:latin typeface="Arial Black" panose="020B0A04020102020204" pitchFamily="34" charset="0"/>
                <a:ea typeface="MS Gothic" panose="020B0609070205080204" pitchFamily="49" charset="-128"/>
              </a:rPr>
              <a:t>~ </a:t>
            </a:r>
            <a:r>
              <a:rPr lang="en-US" sz="1600" b="1" dirty="0">
                <a:solidFill>
                  <a:prstClr val="black"/>
                </a:solidFill>
                <a:latin typeface="Times New Roman" panose="02020603050405020304" pitchFamily="18" charset="0"/>
                <a:ea typeface="MS Gothic" panose="020B0609070205080204" pitchFamily="49" charset="-128"/>
                <a:cs typeface="Times New Roman" panose="02020603050405020304" pitchFamily="18" charset="0"/>
              </a:rPr>
              <a:t>G Srinivas - Project Manager &amp; System Analyst </a:t>
            </a:r>
            <a:endParaRPr lang="en-IN"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solidFill>
                  <a:prstClr val="black"/>
                </a:solidFill>
                <a:latin typeface="Times New Roman" panose="02020603050405020304" pitchFamily="18" charset="0"/>
                <a:ea typeface="MS Gothic" panose="020B0609070205080204" pitchFamily="49" charset="-128"/>
                <a:cs typeface="Times New Roman" panose="02020603050405020304" pitchFamily="18" charset="0"/>
              </a:rPr>
              <a:t>Defines project objectives and requirements.</a:t>
            </a:r>
          </a:p>
          <a:p>
            <a:pPr marL="285750" indent="-285750">
              <a:buFont typeface="Arial" panose="020B0604020202020204" pitchFamily="34" charset="0"/>
              <a:buChar char="•"/>
            </a:pPr>
            <a:r>
              <a:rPr lang="en-US" sz="1600" dirty="0">
                <a:solidFill>
                  <a:prstClr val="black"/>
                </a:solidFill>
                <a:latin typeface="Times New Roman" panose="02020603050405020304" pitchFamily="18" charset="0"/>
                <a:ea typeface="MS Gothic" panose="020B0609070205080204" pitchFamily="49" charset="-128"/>
                <a:cs typeface="Times New Roman" panose="02020603050405020304" pitchFamily="18" charset="0"/>
              </a:rPr>
              <a:t>Plans the overall project workflow.</a:t>
            </a:r>
          </a:p>
          <a:p>
            <a:pPr marL="285750" indent="-285750">
              <a:buFont typeface="Arial" panose="020B0604020202020204" pitchFamily="34" charset="0"/>
              <a:buChar char="•"/>
            </a:pPr>
            <a:r>
              <a:rPr lang="en-US" sz="1600" dirty="0">
                <a:solidFill>
                  <a:prstClr val="black"/>
                </a:solidFill>
                <a:latin typeface="Times New Roman" panose="02020603050405020304" pitchFamily="18" charset="0"/>
                <a:ea typeface="MS Gothic" panose="020B0609070205080204" pitchFamily="49" charset="-128"/>
                <a:cs typeface="Times New Roman" panose="02020603050405020304" pitchFamily="18" charset="0"/>
              </a:rPr>
              <a:t>Coordinates the work of all team members.</a:t>
            </a:r>
          </a:p>
          <a:p>
            <a:pPr marL="285750" indent="-285750">
              <a:buFont typeface="Arial" panose="020B0604020202020204" pitchFamily="34" charset="0"/>
              <a:buChar char="•"/>
            </a:pPr>
            <a:r>
              <a:rPr lang="en-US" sz="1600" dirty="0">
                <a:solidFill>
                  <a:prstClr val="black"/>
                </a:solidFill>
                <a:latin typeface="Times New Roman" panose="02020603050405020304" pitchFamily="18" charset="0"/>
                <a:ea typeface="MS Gothic" panose="020B0609070205080204" pitchFamily="49" charset="-128"/>
                <a:cs typeface="Times New Roman" panose="02020603050405020304" pitchFamily="18" charset="0"/>
              </a:rPr>
              <a:t>Design the basic system architecture.</a:t>
            </a:r>
          </a:p>
          <a:p>
            <a:pPr marL="285750" indent="-285750">
              <a:buFont typeface="Arial" panose="020B0604020202020204" pitchFamily="34" charset="0"/>
              <a:buChar char="•"/>
            </a:pPr>
            <a:r>
              <a:rPr lang="en-US" sz="1600" dirty="0">
                <a:solidFill>
                  <a:prstClr val="black"/>
                </a:solidFill>
                <a:latin typeface="Times New Roman" panose="02020603050405020304" pitchFamily="18" charset="0"/>
                <a:ea typeface="MS Gothic" panose="020B0609070205080204" pitchFamily="49" charset="-128"/>
                <a:cs typeface="Times New Roman" panose="02020603050405020304" pitchFamily="18" charset="0"/>
              </a:rPr>
              <a:t>Helps integrate all modules.</a:t>
            </a:r>
          </a:p>
          <a:p>
            <a:pPr marL="285750" indent="-285750">
              <a:buFont typeface="Arial" panose="020B0604020202020204" pitchFamily="34" charset="0"/>
              <a:buChar char="•"/>
            </a:pPr>
            <a:r>
              <a:rPr lang="en-US" sz="1600" dirty="0">
                <a:solidFill>
                  <a:prstClr val="black"/>
                </a:solidFill>
                <a:latin typeface="Times New Roman" panose="02020603050405020304" pitchFamily="18" charset="0"/>
                <a:ea typeface="MS Gothic" panose="020B0609070205080204" pitchFamily="49" charset="-128"/>
                <a:cs typeface="Times New Roman" panose="02020603050405020304" pitchFamily="18" charset="0"/>
              </a:rPr>
              <a:t>Monitors project progress.</a:t>
            </a:r>
          </a:p>
          <a:p>
            <a:pPr marL="285750" indent="-285750">
              <a:buFont typeface="Arial" panose="020B0604020202020204" pitchFamily="34" charset="0"/>
              <a:buChar char="•"/>
            </a:pPr>
            <a:endParaRPr lang="en-US" sz="1600" b="1" dirty="0">
              <a:solidFill>
                <a:prstClr val="black"/>
              </a:solidFill>
              <a:latin typeface="Times New Roman" panose="02020603050405020304" pitchFamily="18" charset="0"/>
              <a:ea typeface="MS Gothic" panose="020B0609070205080204" pitchFamily="49" charset="-128"/>
              <a:cs typeface="Times New Roman" panose="02020603050405020304" pitchFamily="18" charset="0"/>
            </a:endParaRPr>
          </a:p>
          <a:p>
            <a:endParaRPr lang="en-US" sz="1600" b="1" dirty="0">
              <a:solidFill>
                <a:prstClr val="black"/>
              </a:solidFill>
              <a:latin typeface="Times New Roman" panose="02020603050405020304" pitchFamily="18" charset="0"/>
              <a:ea typeface="MS Gothic" panose="020B0609070205080204" pitchFamily="49" charset="-128"/>
              <a:cs typeface="Times New Roman" panose="02020603050405020304" pitchFamily="18" charset="0"/>
            </a:endParaRPr>
          </a:p>
          <a:p>
            <a:endParaRPr lang="en-US" sz="1600" b="1" dirty="0">
              <a:solidFill>
                <a:prstClr val="black"/>
              </a:solidFill>
              <a:latin typeface="Arial Black" panose="020B0A04020102020204" pitchFamily="34" charset="0"/>
              <a:ea typeface="MS Gothic" panose="020B0609070205080204" pitchFamily="49" charset="-128"/>
            </a:endParaRPr>
          </a:p>
          <a:p>
            <a:r>
              <a:rPr lang="en-US" sz="1600" b="1" dirty="0">
                <a:solidFill>
                  <a:prstClr val="black"/>
                </a:solidFill>
                <a:latin typeface="Arial Black" panose="020B0A04020102020204" pitchFamily="34" charset="0"/>
                <a:ea typeface="MS Gothic" panose="020B0609070205080204" pitchFamily="49" charset="-128"/>
              </a:rPr>
              <a:t>~ </a:t>
            </a:r>
            <a:r>
              <a:rPr lang="en-US" sz="1600" b="1" dirty="0">
                <a:solidFill>
                  <a:prstClr val="black"/>
                </a:solidFill>
                <a:latin typeface="Times New Roman" panose="02020603050405020304" pitchFamily="18" charset="0"/>
                <a:ea typeface="MS Gothic" panose="020B0609070205080204" pitchFamily="49" charset="-128"/>
                <a:cs typeface="Times New Roman" panose="02020603050405020304" pitchFamily="18" charset="0"/>
              </a:rPr>
              <a:t>B Venkatesh – Transaction Developer</a:t>
            </a:r>
            <a:endParaRPr lang="en-IN"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Develops the Deposit Module.</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Develops the Withdrawal Module.</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Implements transaction recording.</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Check sufficient balance before withdrawal.</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Update account balance after transactions.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Tests deposit and withdrawal operations.</a:t>
            </a:r>
          </a:p>
          <a:p>
            <a:endParaRPr lang="en-IN" sz="1600" dirty="0">
              <a:latin typeface="Times New Roman" panose="02020603050405020304" pitchFamily="18" charset="0"/>
              <a:cs typeface="Times New Roman" panose="02020603050405020304" pitchFamily="18" charset="0"/>
            </a:endParaRPr>
          </a:p>
        </p:txBody>
      </p:sp>
      <p:sp>
        <p:nvSpPr>
          <p:cNvPr id="3" name="TextBox 7">
            <a:extLst>
              <a:ext uri="{FF2B5EF4-FFF2-40B4-BE49-F238E27FC236}">
                <a16:creationId xmlns:a16="http://schemas.microsoft.com/office/drawing/2014/main" id="{02B7B2D7-53FB-C302-4F69-DFEFBC2FF279}"/>
              </a:ext>
            </a:extLst>
          </p:cNvPr>
          <p:cNvSpPr txBox="1"/>
          <p:nvPr/>
        </p:nvSpPr>
        <p:spPr>
          <a:xfrm>
            <a:off x="6606464" y="1466598"/>
            <a:ext cx="4818755" cy="427809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prstClr val="black"/>
                </a:solidFill>
                <a:latin typeface="Lato" panose="020F0502020204030203"/>
              </a:rPr>
              <a:t> </a:t>
            </a:r>
            <a:r>
              <a:rPr lang="en-US" sz="1600" b="1" dirty="0">
                <a:solidFill>
                  <a:prstClr val="black"/>
                </a:solidFill>
                <a:latin typeface="Arial Black" panose="020B0A04020102020204" pitchFamily="34" charset="0"/>
                <a:ea typeface="MS Gothic" panose="020B0609070205080204" pitchFamily="49" charset="-128"/>
              </a:rPr>
              <a:t>~ </a:t>
            </a:r>
            <a:r>
              <a:rPr lang="en-US" sz="1600" b="1" dirty="0">
                <a:solidFill>
                  <a:prstClr val="black"/>
                </a:solidFill>
                <a:latin typeface="Times New Roman" panose="02020603050405020304" pitchFamily="18" charset="0"/>
                <a:ea typeface="MS Gothic" panose="020B0609070205080204" pitchFamily="49" charset="-128"/>
                <a:cs typeface="Times New Roman" panose="02020603050405020304" pitchFamily="18" charset="0"/>
              </a:rPr>
              <a:t>P Sai Tharun - Account Management </a:t>
            </a:r>
            <a:endParaRPr lang="en-IN"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Develops the Account Creation Modules.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Implements customer and account details.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Develops Search Account functionality.</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Implements  Update Account functionality.</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Implements Balance Enquiry.</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Tests account-related operations.</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US" sz="1600" b="1" dirty="0">
                <a:solidFill>
                  <a:prstClr val="black"/>
                </a:solidFill>
                <a:latin typeface="Arial Black" panose="020B0A04020102020204" pitchFamily="34" charset="0"/>
                <a:ea typeface="MS Gothic" panose="020B0609070205080204" pitchFamily="49" charset="-128"/>
              </a:rPr>
              <a:t>~ </a:t>
            </a:r>
            <a:r>
              <a:rPr lang="en-US" sz="1600" b="1" dirty="0">
                <a:solidFill>
                  <a:prstClr val="black"/>
                </a:solidFill>
                <a:latin typeface="Times New Roman" panose="02020603050405020304" pitchFamily="18" charset="0"/>
                <a:ea typeface="MS Gothic" panose="020B0609070205080204" pitchFamily="49" charset="-128"/>
                <a:cs typeface="Times New Roman" panose="02020603050405020304" pitchFamily="18" charset="0"/>
              </a:rPr>
              <a:t>T Harika – Database, Testing &amp; Documentation </a:t>
            </a:r>
            <a:endParaRPr lang="en-IN" sz="1600" b="1"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Design the ER Diagram and DFD.</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Implements CSV/Text File Storage.</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Manages customer, account, and transaction records.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Perform system testing and debugging.</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Prepares project documentation and PPT.</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Supports final project demonstration.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56050" y="309294"/>
            <a:ext cx="2080260" cy="631825"/>
          </a:xfrm>
          <a:prstGeom prst="rect">
            <a:avLst/>
          </a:prstGeom>
        </p:spPr>
      </p:pic>
      <p:sp>
        <p:nvSpPr>
          <p:cNvPr id="2" name="Text Box 1"/>
          <p:cNvSpPr txBox="1"/>
          <p:nvPr/>
        </p:nvSpPr>
        <p:spPr>
          <a:xfrm>
            <a:off x="3373821" y="2875002"/>
            <a:ext cx="5417496" cy="1107996"/>
          </a:xfrm>
          <a:prstGeom prst="rect">
            <a:avLst/>
          </a:prstGeom>
          <a:noFill/>
        </p:spPr>
        <p:txBody>
          <a:bodyPr wrap="square" rtlCol="0">
            <a:spAutoFit/>
          </a:bodyPr>
          <a:lstStyle/>
          <a:p>
            <a:r>
              <a:rPr lang="en-IN" altLang="en-US" sz="6600" dirty="0">
                <a:solidFill>
                  <a:schemeClr val="tx2">
                    <a:lumMod val="50000"/>
                    <a:lumOff val="50000"/>
                  </a:schemeClr>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TotalTime>
  <Words>668</Words>
  <Application>Microsoft Office PowerPoint</Application>
  <PresentationFormat>Widescreen</PresentationFormat>
  <Paragraphs>79</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Arial Black</vt:lpstr>
      <vt:lpstr>Lato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Srinivas Gollapalli</dc:creator>
  <cp:lastModifiedBy>Srinivas Gollapalli</cp:lastModifiedBy>
  <cp:revision>15</cp:revision>
  <dcterms:created xsi:type="dcterms:W3CDTF">2026-08-18T10:31:00Z</dcterms:created>
  <dcterms:modified xsi:type="dcterms:W3CDTF">2026-09-26T04:17:48Z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FC4ED427CDE344418430B8544AD9E0E0_12</vt:lpwstr>
  </property>
</Properties>
</file>